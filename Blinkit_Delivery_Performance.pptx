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A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B54-4E09-9567-93769A7D0E4E}"/>
              </c:ext>
            </c:extLst>
          </c:dPt>
          <c:dPt>
            <c:idx val="1"/>
            <c:bubble3D val="0"/>
            <c:spPr>
              <a:solidFill>
                <a:srgbClr val="1F4E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54-4E09-9567-93769A7D0E4E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54-4E09-9567-93769A7D0E4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B54-4E09-9567-93769A7D0E4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B54-4E09-9567-93769A7D0E4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B54-4E09-9567-93769A7D0E4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On Time</c:v>
                </c:pt>
                <c:pt idx="1">
                  <c:v>Slightly Delayed</c:v>
                </c:pt>
                <c:pt idx="2">
                  <c:v>Significantly Delayed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3460</c:v>
                </c:pt>
                <c:pt idx="1">
                  <c:v>982</c:v>
                </c:pt>
                <c:pt idx="2">
                  <c:v>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54-4E09-9567-93769A7D0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1F4E9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F4E9D"/>
              </a:solidFill>
              <a:ln w="9525" cap="flat">
                <a:solidFill>
                  <a:srgbClr val="1F4E9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1500</c:v>
                </c:pt>
                <c:pt idx="1">
                  <c:v>1900</c:v>
                </c:pt>
                <c:pt idx="2">
                  <c:v>2100</c:v>
                </c:pt>
                <c:pt idx="3">
                  <c:v>2300</c:v>
                </c:pt>
                <c:pt idx="4">
                  <c:v>2700</c:v>
                </c:pt>
                <c:pt idx="5">
                  <c:v>2400</c:v>
                </c:pt>
                <c:pt idx="6">
                  <c:v>2500</c:v>
                </c:pt>
                <c:pt idx="7">
                  <c:v>2300</c:v>
                </c:pt>
                <c:pt idx="8">
                  <c:v>2200</c:v>
                </c:pt>
                <c:pt idx="9">
                  <c:v>2100</c:v>
                </c:pt>
                <c:pt idx="10">
                  <c:v>1600</c:v>
                </c:pt>
                <c:pt idx="11">
                  <c:v>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3F-4689-80BB-0F82123A2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B2A5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Traffic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2500</c:v>
                </c:pt>
                <c:pt idx="1">
                  <c:v>2200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FE-4E5C-8EB4-889B2907A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(km)</c:v>
                </c:pt>
              </c:strCache>
            </c:strRef>
          </c:tx>
          <c:spPr>
            <a:solidFill>
              <a:srgbClr val="1F4E9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On Time</c:v>
                </c:pt>
                <c:pt idx="1">
                  <c:v>Slightly Delayed</c:v>
                </c:pt>
                <c:pt idx="2">
                  <c:v>Significantly Delayed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9200</c:v>
                </c:pt>
                <c:pt idx="1">
                  <c:v>3200</c:v>
                </c:pt>
                <c:pt idx="2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B4-4899-813F-2733DAC0E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0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F4E9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Delivery Performance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 Report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C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5,000 orders  •  On-Time Performance  •  Delay Patterns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4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33756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 (min)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 (km)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9828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5544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09828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Orders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orders delivered on time — solid baseline performance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under 5 minutes — extremely fast fulfilment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average distance (2.72 km) enables quick-commerce SLAs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of orders experience some level of delay — key improvement area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Breakdown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5486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630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1463040"/>
            <a:ext cx="137160" cy="1371600"/>
          </a:xfrm>
          <a:prstGeom prst="rect">
            <a:avLst/>
          </a:prstGeom>
          <a:solidFill>
            <a:srgbClr val="0B2A5B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7512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4183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3,460 orders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0" y="301752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3017520"/>
            <a:ext cx="137160" cy="1371600"/>
          </a:xfrm>
          <a:prstGeom prst="rect">
            <a:avLst/>
          </a:prstGeom>
          <a:solidFill>
            <a:srgbClr val="1F4E9D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Delayed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75120" y="3520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4E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941832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982 orders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0" y="45720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4572000"/>
            <a:ext cx="13716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Delayed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675120" y="5074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9418320" y="5257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558 orders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Trend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7315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046720" y="192024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May — highest order volume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Mar–Sep season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Nov–Dec drop needs attention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around summer peak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Delays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6400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2320" y="2011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the leading cause of delayed deliveries, followed closely by other operational factors.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32320" y="365760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3794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0" y="420624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traffic routing and pre-position riders in high-congestion zones during peak hours.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by Delivery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3B82F6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7315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0" y="192024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 cover the largest total distance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orders are not necessarily long-distance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driven more by traffic than distance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36118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on-time delivery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avg time: 4.44 min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avg distance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828800"/>
            <a:ext cx="36118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828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orders delayed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top cause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volume decline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828800"/>
            <a:ext cx="361188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28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25603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optimization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rider positioning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demand campaigns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Widescreen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UTKARSH ARORA</cp:lastModifiedBy>
  <cp:revision>1</cp:revision>
  <dcterms:created xsi:type="dcterms:W3CDTF">2026-07-16T08:29:31Z</dcterms:created>
  <dcterms:modified xsi:type="dcterms:W3CDTF">2026-07-16T08:31:15Z</dcterms:modified>
</cp:coreProperties>
</file>